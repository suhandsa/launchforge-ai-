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90F"/>
        </a:solidFill>
      </p:bgPr>
    </p:bg>
    <p:spTree>
      <p:nvGrpSpPr>
        <p:cNvPr id="1" name=""/>
        <p:cNvGrpSpPr/>
        <p:nvPr/>
      </p:nvGrpSpPr>
      <p:grpSpPr>
        <a:xfrm>
          <a:off x="0" y="0"/>
          <a:ext cx="0" cy="0"/>
          <a:chOff x="0" y="0"/>
          <a:chExt cx="0" cy="0"/>
        </a:xfrm>
      </p:grpSpPr>
      <p:sp>
        <p:nvSpPr>
          <p:cNvPr id="2" name="Text 0"/>
          <p:cNvSpPr/>
          <p:nvPr/>
        </p:nvSpPr>
        <p:spPr>
          <a:xfrm>
            <a:off x="457200" y="2286000"/>
            <a:ext cx="8229600" cy="0"/>
          </a:xfrm>
          <a:prstGeom prst="rect">
            <a:avLst/>
          </a:prstGeom>
          <a:noFill/>
          <a:ln/>
        </p:spPr>
        <p:txBody>
          <a:bodyPr wrap="square" rtlCol="0" anchor="ctr"/>
          <a:lstStyle/>
          <a:p>
            <a:pPr algn="ctr" indent="0" marL="0">
              <a:buNone/>
            </a:pPr>
            <a:r>
              <a:rPr lang="en-US" sz="4400" b="1" dirty="0">
                <a:solidFill>
                  <a:srgbClr val="6366F1"/>
                </a:solidFill>
              </a:rPr>
              <a:t>LaunchGen AI Pitch Deck</a:t>
            </a:r>
            <a:endParaRPr lang="en-US" sz="4400" dirty="0"/>
          </a:p>
        </p:txBody>
      </p:sp>
      <p:sp>
        <p:nvSpPr>
          <p:cNvPr id="3" name="Text 1"/>
          <p:cNvSpPr/>
          <p:nvPr/>
        </p:nvSpPr>
        <p:spPr>
          <a:xfrm>
            <a:off x="457200" y="3200400"/>
            <a:ext cx="8229600" cy="0"/>
          </a:xfrm>
          <a:prstGeom prst="rect">
            <a:avLst/>
          </a:prstGeom>
          <a:noFill/>
          <a:ln/>
        </p:spPr>
        <p:txBody>
          <a:bodyPr wrap="square" rtlCol="0" anchor="ctr"/>
          <a:lstStyle/>
          <a:p>
            <a:pPr algn="ctr" indent="0" marL="0">
              <a:buNone/>
            </a:pPr>
            <a:r>
              <a:rPr lang="en-US" sz="1800" dirty="0">
                <a:solidFill>
                  <a:srgbClr val="22D3EE"/>
                </a:solidFill>
              </a:rPr>
              <a:t>Turning Your Idea Into Reality</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90F"/>
        </a:solidFill>
      </p:bgPr>
    </p:bg>
    <p:spTree>
      <p:nvGrpSpPr>
        <p:cNvPr id="1" name=""/>
        <p:cNvGrpSpPr/>
        <p:nvPr/>
      </p:nvGrpSpPr>
      <p:grpSpPr>
        <a:xfrm>
          <a:off x="0" y="0"/>
          <a:ext cx="0" cy="0"/>
          <a:chOff x="0" y="0"/>
          <a:chExt cx="0" cy="0"/>
        </a:xfrm>
      </p:grpSpPr>
      <p:sp>
        <p:nvSpPr>
          <p:cNvPr id="2" name="Text 0"/>
          <p:cNvSpPr/>
          <p:nvPr/>
        </p:nvSpPr>
        <p:spPr>
          <a:xfrm>
            <a:off x="457200" y="274320"/>
            <a:ext cx="8229600" cy="0"/>
          </a:xfrm>
          <a:prstGeom prst="rect">
            <a:avLst/>
          </a:prstGeom>
          <a:noFill/>
          <a:ln/>
        </p:spPr>
        <p:txBody>
          <a:bodyPr wrap="square" rtlCol="0" anchor="ctr"/>
          <a:lstStyle/>
          <a:p>
            <a:pPr indent="0" marL="0">
              <a:buNone/>
            </a:pPr>
            <a:r>
              <a:rPr lang="en-US" sz="3200" b="1" dirty="0">
                <a:solidFill>
                  <a:srgbClr val="E5E7EB"/>
                </a:solidFill>
                <a:latin typeface="Arial" pitchFamily="34" charset="0"/>
                <a:ea typeface="Arial" pitchFamily="34" charset="-122"/>
                <a:cs typeface="Arial" pitchFamily="34" charset="-120"/>
              </a:rPr>
              <a:t>Problem</a:t>
            </a:r>
            <a:endParaRPr lang="en-US" sz="3200" dirty="0"/>
          </a:p>
        </p:txBody>
      </p:sp>
      <p:sp>
        <p:nvSpPr>
          <p:cNvPr id="3" name="Text 1"/>
          <p:cNvSpPr/>
          <p:nvPr/>
        </p:nvSpPr>
        <p:spPr>
          <a:xfrm>
            <a:off x="731520" y="10972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University students and campus community members face significant challenges in efficiently finding and offering campus-specific services. Existing methods like social media groups, flyers, and word-of-mouth are disorganized, lack trust and verification, and offer poor discovery, leading to missed opportunities for both service seekers and providers. There's a clear need for a centralized, trusted, and easy-to-use platform for campus-centric needs.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90F"/>
        </a:solidFill>
      </p:bgPr>
    </p:bg>
    <p:spTree>
      <p:nvGrpSpPr>
        <p:cNvPr id="1" name=""/>
        <p:cNvGrpSpPr/>
        <p:nvPr/>
      </p:nvGrpSpPr>
      <p:grpSpPr>
        <a:xfrm>
          <a:off x="0" y="0"/>
          <a:ext cx="0" cy="0"/>
          <a:chOff x="0" y="0"/>
          <a:chExt cx="0" cy="0"/>
        </a:xfrm>
      </p:grpSpPr>
      <p:sp>
        <p:nvSpPr>
          <p:cNvPr id="2" name="Text 0"/>
          <p:cNvSpPr/>
          <p:nvPr/>
        </p:nvSpPr>
        <p:spPr>
          <a:xfrm>
            <a:off x="457200" y="274320"/>
            <a:ext cx="8229600" cy="0"/>
          </a:xfrm>
          <a:prstGeom prst="rect">
            <a:avLst/>
          </a:prstGeom>
          <a:noFill/>
          <a:ln/>
        </p:spPr>
        <p:txBody>
          <a:bodyPr wrap="square" rtlCol="0" anchor="ctr"/>
          <a:lstStyle/>
          <a:p>
            <a:pPr indent="0" marL="0">
              <a:buNone/>
            </a:pPr>
            <a:r>
              <a:rPr lang="en-US" sz="3200" b="1" dirty="0">
                <a:solidFill>
                  <a:srgbClr val="E5E7EB"/>
                </a:solidFill>
                <a:latin typeface="Arial" pitchFamily="34" charset="0"/>
                <a:ea typeface="Arial" pitchFamily="34" charset="-122"/>
                <a:cs typeface="Arial" pitchFamily="34" charset="-120"/>
              </a:rPr>
              <a:t>Solution</a:t>
            </a:r>
            <a:endParaRPr lang="en-US" sz="3200" dirty="0"/>
          </a:p>
        </p:txBody>
      </p:sp>
      <p:sp>
        <p:nvSpPr>
          <p:cNvPr id="3" name="Text 1"/>
          <p:cNvSpPr/>
          <p:nvPr/>
        </p:nvSpPr>
        <p:spPr>
          <a:xfrm>
            <a:off x="731520" y="10972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MVP Features: User authentication (email/password, potentially campus email verification), User profiles (basic info, service provider status, photo), Service listing creation (title, description, price, category, photos), Browse &amp; Search functionality for services by category and keywords, Direct messaging between users for inquiries and coordination, Basic 'Request Service' and 'Accept Offer' workflow, Simple review and rating system for completed services, Integrated payment processing for secure transactions (e.g., Stripe Connect for escrow-like functionality), Admin dashboard for user/listing moderation</a:t>
            </a:r>
            <a:endParaRPr lang="en-US" sz="1400" dirty="0"/>
          </a:p>
        </p:txBody>
      </p:sp>
      <p:sp>
        <p:nvSpPr>
          <p:cNvPr id="4" name="Text 2"/>
          <p:cNvSpPr/>
          <p:nvPr/>
        </p:nvSpPr>
        <p:spPr>
          <a:xfrm>
            <a:off x="731520" y="15544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Unique Value: The trusted, verified, and centralized marketplace for campus-exclusive services. We provide a secure platform specifically designed for the campus community, offering peer-to-peer services that are more affordable than external alternatives, and a reliable way for students to earn money or get help, backed by campus-specific verification and reviews.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90F"/>
        </a:solidFill>
      </p:bgPr>
    </p:bg>
    <p:spTree>
      <p:nvGrpSpPr>
        <p:cNvPr id="1" name=""/>
        <p:cNvGrpSpPr/>
        <p:nvPr/>
      </p:nvGrpSpPr>
      <p:grpSpPr>
        <a:xfrm>
          <a:off x="0" y="0"/>
          <a:ext cx="0" cy="0"/>
          <a:chOff x="0" y="0"/>
          <a:chExt cx="0" cy="0"/>
        </a:xfrm>
      </p:grpSpPr>
      <p:sp>
        <p:nvSpPr>
          <p:cNvPr id="2" name="Text 0"/>
          <p:cNvSpPr/>
          <p:nvPr/>
        </p:nvSpPr>
        <p:spPr>
          <a:xfrm>
            <a:off x="457200" y="274320"/>
            <a:ext cx="8229600" cy="0"/>
          </a:xfrm>
          <a:prstGeom prst="rect">
            <a:avLst/>
          </a:prstGeom>
          <a:noFill/>
          <a:ln/>
        </p:spPr>
        <p:txBody>
          <a:bodyPr wrap="square" rtlCol="0" anchor="ctr"/>
          <a:lstStyle/>
          <a:p>
            <a:pPr indent="0" marL="0">
              <a:buNone/>
            </a:pPr>
            <a:r>
              <a:rPr lang="en-US" sz="3200" b="1" dirty="0">
                <a:solidFill>
                  <a:srgbClr val="E5E7EB"/>
                </a:solidFill>
                <a:latin typeface="Arial" pitchFamily="34" charset="0"/>
                <a:ea typeface="Arial" pitchFamily="34" charset="-122"/>
                <a:cs typeface="Arial" pitchFamily="34" charset="-120"/>
              </a:rPr>
              <a:t>Market Opportunity</a:t>
            </a:r>
            <a:endParaRPr lang="en-US" sz="3200" dirty="0"/>
          </a:p>
        </p:txBody>
      </p:sp>
      <p:sp>
        <p:nvSpPr>
          <p:cNvPr id="3" name="Text 1"/>
          <p:cNvSpPr/>
          <p:nvPr/>
        </p:nvSpPr>
        <p:spPr>
          <a:xfrm>
            <a:off x="731520" y="10972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Target Users: University Students (service seekers and providers, e.g., tutors, movers, designers, errand runners), Campus Faculty &amp; Staff (seeking assistance for departmental tasks, event help, or personal services), Student Organizations (seeking event support, marketing, design services), Local Small Businesses (catering to campus, e.g., specialized tutoring centers, event planners, delivery services), Alumni (potentially for specialized mentorship or high-value services)</a:t>
            </a:r>
            <a:endParaRPr lang="en-US" sz="1400" dirty="0"/>
          </a:p>
        </p:txBody>
      </p:sp>
      <p:sp>
        <p:nvSpPr>
          <p:cNvPr id="4" name="Text 2"/>
          <p:cNvSpPr/>
          <p:nvPr/>
        </p:nvSpPr>
        <p:spPr>
          <a:xfrm>
            <a:off x="731520" y="15544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Market Size: The U.S. higher education market alone comprises over 20 million students across thousands of institutions. Each large university (30k+ students) represents a microcosm with significant internal demand for services like tutoring, moving help, freelance design, event support, and more. If an average student spends $50/month on such services and 10% of a 30,000-student campus uses the platform, that's $150,000 in monthly service value. Scaled across hundreds or thousands of campuses, the total addressable market is in the billions annually, with a focus on capturing a percentage of these transactions.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90F"/>
        </a:solidFill>
      </p:bgPr>
    </p:bg>
    <p:spTree>
      <p:nvGrpSpPr>
        <p:cNvPr id="1" name=""/>
        <p:cNvGrpSpPr/>
        <p:nvPr/>
      </p:nvGrpSpPr>
      <p:grpSpPr>
        <a:xfrm>
          <a:off x="0" y="0"/>
          <a:ext cx="0" cy="0"/>
          <a:chOff x="0" y="0"/>
          <a:chExt cx="0" cy="0"/>
        </a:xfrm>
      </p:grpSpPr>
      <p:sp>
        <p:nvSpPr>
          <p:cNvPr id="2" name="Text 0"/>
          <p:cNvSpPr/>
          <p:nvPr/>
        </p:nvSpPr>
        <p:spPr>
          <a:xfrm>
            <a:off x="457200" y="274320"/>
            <a:ext cx="8229600" cy="0"/>
          </a:xfrm>
          <a:prstGeom prst="rect">
            <a:avLst/>
          </a:prstGeom>
          <a:noFill/>
          <a:ln/>
        </p:spPr>
        <p:txBody>
          <a:bodyPr wrap="square" rtlCol="0" anchor="ctr"/>
          <a:lstStyle/>
          <a:p>
            <a:pPr indent="0" marL="0">
              <a:buNone/>
            </a:pPr>
            <a:r>
              <a:rPr lang="en-US" sz="3200" b="1" dirty="0">
                <a:solidFill>
                  <a:srgbClr val="E5E7EB"/>
                </a:solidFill>
                <a:latin typeface="Arial" pitchFamily="34" charset="0"/>
                <a:ea typeface="Arial" pitchFamily="34" charset="-122"/>
                <a:cs typeface="Arial" pitchFamily="34" charset="-120"/>
              </a:rPr>
              <a:t>Revenue Model</a:t>
            </a:r>
            <a:endParaRPr lang="en-US" sz="3200" dirty="0"/>
          </a:p>
        </p:txBody>
      </p:sp>
      <p:sp>
        <p:nvSpPr>
          <p:cNvPr id="3" name="Text 1"/>
          <p:cNvSpPr/>
          <p:nvPr/>
        </p:nvSpPr>
        <p:spPr>
          <a:xfrm>
            <a:off x="731520" y="10972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Monetization: **Commission on Transactions**: A percentage (e.g., 5-15%) deducted from the service provider's earnings for each successfully completed transaction.,**Premium Listings/Promotions**: Service providers can pay a fee to boost visibility for their listings or get featured.,**Local Business Partnerships**: Sponsored listings or referral fees from local businesses targeting the campus community (e.g., specific tutoring centers, local restaurants, moving companies).</a:t>
            </a:r>
            <a:endParaRPr lang="en-US" sz="1400" dirty="0"/>
          </a:p>
        </p:txBody>
      </p:sp>
      <p:sp>
        <p:nvSpPr>
          <p:cNvPr id="4" name="Text 2"/>
          <p:cNvSpPr/>
          <p:nvPr/>
        </p:nvSpPr>
        <p:spPr>
          <a:xfrm>
            <a:off x="731520" y="15544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Pricing: **Platform Fees**: As per the commission model. Services themselves are priced by individual student/community providers, typically at competitive rates tailored to student budgets.,**Tiered Subscriptions (Future)**: Potentially offer premium features to service providers for a monthly fee (e.g., enhanced analytics, more profile customization).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90F"/>
        </a:solidFill>
      </p:bgPr>
    </p:bg>
    <p:spTree>
      <p:nvGrpSpPr>
        <p:cNvPr id="1" name=""/>
        <p:cNvGrpSpPr/>
        <p:nvPr/>
      </p:nvGrpSpPr>
      <p:grpSpPr>
        <a:xfrm>
          <a:off x="0" y="0"/>
          <a:ext cx="0" cy="0"/>
          <a:chOff x="0" y="0"/>
          <a:chExt cx="0" cy="0"/>
        </a:xfrm>
      </p:grpSpPr>
      <p:sp>
        <p:nvSpPr>
          <p:cNvPr id="2" name="Text 0"/>
          <p:cNvSpPr/>
          <p:nvPr/>
        </p:nvSpPr>
        <p:spPr>
          <a:xfrm>
            <a:off x="457200" y="274320"/>
            <a:ext cx="8229600" cy="0"/>
          </a:xfrm>
          <a:prstGeom prst="rect">
            <a:avLst/>
          </a:prstGeom>
          <a:noFill/>
          <a:ln/>
        </p:spPr>
        <p:txBody>
          <a:bodyPr wrap="square" rtlCol="0" anchor="ctr"/>
          <a:lstStyle/>
          <a:p>
            <a:pPr indent="0" marL="0">
              <a:buNone/>
            </a:pPr>
            <a:r>
              <a:rPr lang="en-US" sz="3200" b="1" dirty="0">
                <a:solidFill>
                  <a:srgbClr val="E5E7EB"/>
                </a:solidFill>
                <a:latin typeface="Arial" pitchFamily="34" charset="0"/>
                <a:ea typeface="Arial" pitchFamily="34" charset="-122"/>
                <a:cs typeface="Arial" pitchFamily="34" charset="-120"/>
              </a:rPr>
              <a:t>Competition</a:t>
            </a:r>
            <a:endParaRPr lang="en-US" sz="3200" dirty="0"/>
          </a:p>
        </p:txBody>
      </p:sp>
      <p:sp>
        <p:nvSpPr>
          <p:cNvPr id="3" name="Text 1"/>
          <p:cNvSpPr/>
          <p:nvPr/>
        </p:nvSpPr>
        <p:spPr>
          <a:xfrm>
            <a:off x="731520" y="10972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Competitors: [object Object], [object Object], [object Object], [object Object]</a:t>
            </a:r>
            <a:endParaRPr lang="en-US" sz="1400" dirty="0"/>
          </a:p>
        </p:txBody>
      </p:sp>
      <p:sp>
        <p:nvSpPr>
          <p:cNvPr id="4" name="Text 2"/>
          <p:cNvSpPr/>
          <p:nvPr/>
        </p:nvSpPr>
        <p:spPr>
          <a:xfrm>
            <a:off x="731520" y="15544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Our Advantage: The trusted, verified, and centralized marketplace for campus-exclusive services. We provide a secure platform specifically designed for the campus community, offering peer-to-peer services that are more affordable than external alternatives, and a reliable way for students to earn money or get help, backed by campus-specific verification and reviews.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90F"/>
        </a:solidFill>
      </p:bgPr>
    </p:bg>
    <p:spTree>
      <p:nvGrpSpPr>
        <p:cNvPr id="1" name=""/>
        <p:cNvGrpSpPr/>
        <p:nvPr/>
      </p:nvGrpSpPr>
      <p:grpSpPr>
        <a:xfrm>
          <a:off x="0" y="0"/>
          <a:ext cx="0" cy="0"/>
          <a:chOff x="0" y="0"/>
          <a:chExt cx="0" cy="0"/>
        </a:xfrm>
      </p:grpSpPr>
      <p:sp>
        <p:nvSpPr>
          <p:cNvPr id="2" name="Text 0"/>
          <p:cNvSpPr/>
          <p:nvPr/>
        </p:nvSpPr>
        <p:spPr>
          <a:xfrm>
            <a:off x="457200" y="274320"/>
            <a:ext cx="8229600" cy="0"/>
          </a:xfrm>
          <a:prstGeom prst="rect">
            <a:avLst/>
          </a:prstGeom>
          <a:noFill/>
          <a:ln/>
        </p:spPr>
        <p:txBody>
          <a:bodyPr wrap="square" rtlCol="0" anchor="ctr"/>
          <a:lstStyle/>
          <a:p>
            <a:pPr indent="0" marL="0">
              <a:buNone/>
            </a:pPr>
            <a:r>
              <a:rPr lang="en-US" sz="3200" b="1" dirty="0">
                <a:solidFill>
                  <a:srgbClr val="E5E7EB"/>
                </a:solidFill>
                <a:latin typeface="Arial" pitchFamily="34" charset="0"/>
                <a:ea typeface="Arial" pitchFamily="34" charset="-122"/>
                <a:cs typeface="Arial" pitchFamily="34" charset="-120"/>
              </a:rPr>
              <a:t>Traction &amp; Roadmap</a:t>
            </a:r>
            <a:endParaRPr lang="en-US" sz="3200" dirty="0"/>
          </a:p>
        </p:txBody>
      </p:sp>
      <p:sp>
        <p:nvSpPr>
          <p:cNvPr id="3" name="Text 1"/>
          <p:cNvSpPr/>
          <p:nvPr/>
        </p:nvSpPr>
        <p:spPr>
          <a:xfrm>
            <a:off x="731520" y="10972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30-Day Goals:</a:t>
            </a:r>
            <a:endParaRPr lang="en-US" sz="1400" dirty="0"/>
          </a:p>
        </p:txBody>
      </p:sp>
      <p:sp>
        <p:nvSpPr>
          <p:cNvPr id="4" name="Text 2"/>
          <p:cNvSpPr/>
          <p:nvPr/>
        </p:nvSpPr>
        <p:spPr>
          <a:xfrm>
            <a:off x="731520" y="15544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Conduct in-depth market research and user interviews with 50+ students/faculty at a target university to validate specific service demands and pain points.</a:t>
            </a:r>
            <a:endParaRPr lang="en-US" sz="1400" dirty="0"/>
          </a:p>
        </p:txBody>
      </p:sp>
      <p:sp>
        <p:nvSpPr>
          <p:cNvPr id="5" name="Text 3"/>
          <p:cNvSpPr/>
          <p:nvPr/>
        </p:nvSpPr>
        <p:spPr>
          <a:xfrm>
            <a:off x="731520" y="20116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Define detailed MVP scope, user stories, wireframes, and initial UI/UX designs for core features (profiles, listings, messaging).</a:t>
            </a:r>
            <a:endParaRPr lang="en-US" sz="1400" dirty="0"/>
          </a:p>
        </p:txBody>
      </p:sp>
      <p:sp>
        <p:nvSpPr>
          <p:cNvPr id="6" name="Text 4"/>
          <p:cNvSpPr/>
          <p:nvPr/>
        </p:nvSpPr>
        <p:spPr>
          <a:xfrm>
            <a:off x="731520" y="24688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Set up core backend infrastructure (database, API endpoints for user authentication and listing management).</a:t>
            </a:r>
            <a:endParaRPr lang="en-US" sz="1400" dirty="0"/>
          </a:p>
        </p:txBody>
      </p:sp>
      <p:sp>
        <p:nvSpPr>
          <p:cNvPr id="7" name="Text 5"/>
          <p:cNvSpPr/>
          <p:nvPr/>
        </p:nvSpPr>
        <p:spPr>
          <a:xfrm>
            <a:off x="731520" y="2926080"/>
            <a:ext cx="7680960" cy="0"/>
          </a:xfrm>
          <a:prstGeom prst="rect">
            <a:avLst/>
          </a:prstGeom>
          <a:noFill/>
          <a:ln/>
        </p:spPr>
        <p:txBody>
          <a:bodyPr wrap="square" rtlCol="0" anchor="ctr"/>
          <a:lstStyle/>
          <a:p>
            <a:pPr indent="0" marL="0">
              <a:buNone/>
            </a:pPr>
            <a:endParaRPr lang="en-US" sz="1400" dirty="0"/>
          </a:p>
        </p:txBody>
      </p:sp>
      <p:sp>
        <p:nvSpPr>
          <p:cNvPr id="8" name="Text 6"/>
          <p:cNvSpPr/>
          <p:nvPr/>
        </p:nvSpPr>
        <p:spPr>
          <a:xfrm>
            <a:off x="731520" y="33832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90-Day Vision:</a:t>
            </a:r>
            <a:endParaRPr lang="en-US" sz="1400" dirty="0"/>
          </a:p>
        </p:txBody>
      </p:sp>
      <p:sp>
        <p:nvSpPr>
          <p:cNvPr id="9" name="Text 7"/>
          <p:cNvSpPr/>
          <p:nvPr/>
        </p:nvSpPr>
        <p:spPr>
          <a:xfrm>
            <a:off x="731520" y="38404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Launch MVP (beta) on a single, carefully selected campus.</a:t>
            </a:r>
            <a:endParaRPr lang="en-US" sz="1400" dirty="0"/>
          </a:p>
        </p:txBody>
      </p:sp>
      <p:sp>
        <p:nvSpPr>
          <p:cNvPr id="10" name="Text 8"/>
          <p:cNvSpPr/>
          <p:nvPr/>
        </p:nvSpPr>
        <p:spPr>
          <a:xfrm>
            <a:off x="731520" y="42976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Implement core functionalities: user profiles, service listing, search/browse, direct messaging, and basic review system.</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90F"/>
        </a:solidFill>
      </p:bgPr>
    </p:bg>
    <p:spTree>
      <p:nvGrpSpPr>
        <p:cNvPr id="1" name=""/>
        <p:cNvGrpSpPr/>
        <p:nvPr/>
      </p:nvGrpSpPr>
      <p:grpSpPr>
        <a:xfrm>
          <a:off x="0" y="0"/>
          <a:ext cx="0" cy="0"/>
          <a:chOff x="0" y="0"/>
          <a:chExt cx="0" cy="0"/>
        </a:xfrm>
      </p:grpSpPr>
      <p:sp>
        <p:nvSpPr>
          <p:cNvPr id="2" name="Text 0"/>
          <p:cNvSpPr/>
          <p:nvPr/>
        </p:nvSpPr>
        <p:spPr>
          <a:xfrm>
            <a:off x="457200" y="274320"/>
            <a:ext cx="8229600" cy="0"/>
          </a:xfrm>
          <a:prstGeom prst="rect">
            <a:avLst/>
          </a:prstGeom>
          <a:noFill/>
          <a:ln/>
        </p:spPr>
        <p:txBody>
          <a:bodyPr wrap="square" rtlCol="0" anchor="ctr"/>
          <a:lstStyle/>
          <a:p>
            <a:pPr indent="0" marL="0">
              <a:buNone/>
            </a:pPr>
            <a:r>
              <a:rPr lang="en-US" sz="3200" b="1" dirty="0">
                <a:solidFill>
                  <a:srgbClr val="E5E7EB"/>
                </a:solidFill>
                <a:latin typeface="Arial" pitchFamily="34" charset="0"/>
                <a:ea typeface="Arial" pitchFamily="34" charset="-122"/>
                <a:cs typeface="Arial" pitchFamily="34" charset="-120"/>
              </a:rPr>
              <a:t>Technology</a:t>
            </a:r>
            <a:endParaRPr lang="en-US" sz="3200" dirty="0"/>
          </a:p>
        </p:txBody>
      </p:sp>
      <p:sp>
        <p:nvSpPr>
          <p:cNvPr id="3" name="Text 1"/>
          <p:cNvSpPr/>
          <p:nvPr/>
        </p:nvSpPr>
        <p:spPr>
          <a:xfrm>
            <a:off x="731520" y="10972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Tech Stack: Frontend: React.js (Next.js for SSR/SSG and SEO), Styling: Tailwind CSS, Backend: Node.js (Express.js or NestJS), Database: PostgreSQL, Cloud Hosting: AWS (EC2, S3, RDS) or Google Cloud Platform, Payment Gateway: Stripe Connect, Real-time Communication: WebSockets (Socket.IO or similar for chat), Authentication: Passport.js (for local) / Auth0 (for SSO integration), Deployment: Docker, Kubernetes / Vercel (for Next.js frontend)</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90F"/>
        </a:solidFill>
      </p:bgPr>
    </p:bg>
    <p:spTree>
      <p:nvGrpSpPr>
        <p:cNvPr id="1" name=""/>
        <p:cNvGrpSpPr/>
        <p:nvPr/>
      </p:nvGrpSpPr>
      <p:grpSpPr>
        <a:xfrm>
          <a:off x="0" y="0"/>
          <a:ext cx="0" cy="0"/>
          <a:chOff x="0" y="0"/>
          <a:chExt cx="0" cy="0"/>
        </a:xfrm>
      </p:grpSpPr>
      <p:sp>
        <p:nvSpPr>
          <p:cNvPr id="2" name="Text 0"/>
          <p:cNvSpPr/>
          <p:nvPr/>
        </p:nvSpPr>
        <p:spPr>
          <a:xfrm>
            <a:off x="457200" y="274320"/>
            <a:ext cx="8229600" cy="0"/>
          </a:xfrm>
          <a:prstGeom prst="rect">
            <a:avLst/>
          </a:prstGeom>
          <a:noFill/>
          <a:ln/>
        </p:spPr>
        <p:txBody>
          <a:bodyPr wrap="square" rtlCol="0" anchor="ctr"/>
          <a:lstStyle/>
          <a:p>
            <a:pPr indent="0" marL="0">
              <a:buNone/>
            </a:pPr>
            <a:r>
              <a:rPr lang="en-US" sz="3200" b="1" dirty="0">
                <a:solidFill>
                  <a:srgbClr val="E5E7EB"/>
                </a:solidFill>
                <a:latin typeface="Arial" pitchFamily="34" charset="0"/>
                <a:ea typeface="Arial" pitchFamily="34" charset="-122"/>
                <a:cs typeface="Arial" pitchFamily="34" charset="-120"/>
              </a:rPr>
              <a:t>The Ask</a:t>
            </a:r>
            <a:endParaRPr lang="en-US" sz="3200" dirty="0"/>
          </a:p>
        </p:txBody>
      </p:sp>
      <p:sp>
        <p:nvSpPr>
          <p:cNvPr id="3" name="Text 1"/>
          <p:cNvSpPr/>
          <p:nvPr/>
        </p:nvSpPr>
        <p:spPr>
          <a:xfrm>
            <a:off x="731520" y="10972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We're seeking partnership and resources to:</a:t>
            </a:r>
            <a:endParaRPr lang="en-US" sz="1400" dirty="0"/>
          </a:p>
        </p:txBody>
      </p:sp>
      <p:sp>
        <p:nvSpPr>
          <p:cNvPr id="4" name="Text 2"/>
          <p:cNvSpPr/>
          <p:nvPr/>
        </p:nvSpPr>
        <p:spPr>
          <a:xfrm>
            <a:off x="731520" y="15544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Build and launch the MVP</a:t>
            </a:r>
            <a:endParaRPr lang="en-US" sz="1400" dirty="0"/>
          </a:p>
        </p:txBody>
      </p:sp>
      <p:sp>
        <p:nvSpPr>
          <p:cNvPr id="5" name="Text 3"/>
          <p:cNvSpPr/>
          <p:nvPr/>
        </p:nvSpPr>
        <p:spPr>
          <a:xfrm>
            <a:off x="731520" y="20116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Acquire initial users</a:t>
            </a:r>
            <a:endParaRPr lang="en-US" sz="1400" dirty="0"/>
          </a:p>
        </p:txBody>
      </p:sp>
      <p:sp>
        <p:nvSpPr>
          <p:cNvPr id="6" name="Text 4"/>
          <p:cNvSpPr/>
          <p:nvPr/>
        </p:nvSpPr>
        <p:spPr>
          <a:xfrm>
            <a:off x="731520" y="24688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Achieve product-market fit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2026-03-10T16:37:30Z</dcterms:created>
  <dcterms:modified xsi:type="dcterms:W3CDTF">2026-03-10T16:37:30Z</dcterms:modified>
</cp:coreProperties>
</file>